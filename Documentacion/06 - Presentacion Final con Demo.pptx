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9" d="100"/>
          <a:sy n="109" d="100"/>
        </p:scale>
        <p:origin x="706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08157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64748B"/>
                </a:solidFill>
              </a:rPr>
              <a:t>PRESENTACIÓN FINAL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400" b="1" dirty="0">
                <a:solidFill>
                  <a:srgbClr val="1E3A5F"/>
                </a:solidFill>
              </a:rPr>
              <a:t>TaskFlow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457200" y="2743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64748B"/>
                </a:solidFill>
              </a:rPr>
              <a:t>Sistema Kanban para Gestión de Tareas Colaborativas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743200" y="3657600"/>
            <a:ext cx="3657600" cy="4572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3931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1E293B"/>
                </a:solidFill>
              </a:rPr>
              <a:t>Proyecto Integrado — Implementación de Soluciones para Plataformas Web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4846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E293B"/>
                </a:solidFill>
              </a:rPr>
              <a:t>Estudiante: </a:t>
            </a:r>
            <a:r>
              <a:rPr lang="en-US" sz="1600" dirty="0">
                <a:solidFill>
                  <a:srgbClr val="1E293B"/>
                </a:solidFill>
              </a:rPr>
              <a:t>Jorge Luis Diaz Cárdenas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57200" y="53949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64748B"/>
                </a:solidFill>
              </a:rPr>
              <a:t>12 de julio de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3A5F"/>
                </a:solidFill>
              </a:rPr>
              <a:t>¿Qué es TaskFlow?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E293B"/>
                </a:solidFill>
              </a:rPr>
              <a:t>TaskFlow es una aplicación web basada en la metodología Kanban que permite organizar tareas de forma visual e intuitiva.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57200" y="17373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E3A5F"/>
                </a:solidFill>
              </a:rPr>
              <a:t>¿Qué es Kanban?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21945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</a:rPr>
              <a:t>Método visual de gestión de flujo de trabajo. Organiza tareas en tres estados: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731520" y="2651760"/>
            <a:ext cx="2286000" cy="548640"/>
          </a:xfrm>
          <a:prstGeom prst="roundRect">
            <a:avLst>
              <a:gd name="adj" fmla="val 666667"/>
            </a:avLst>
          </a:prstGeom>
          <a:solidFill>
            <a:srgbClr val="E2E8F0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265176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</a:rPr>
              <a:t>📋 Por Hacer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383280" y="2651760"/>
            <a:ext cx="2377440" cy="548640"/>
          </a:xfrm>
          <a:prstGeom prst="roundRect">
            <a:avLst>
              <a:gd name="adj" fmla="val 666667"/>
            </a:avLst>
          </a:prstGeom>
          <a:solidFill>
            <a:srgbClr val="DBEAFE"/>
          </a:solidFill>
          <a:ln/>
        </p:spPr>
      </p:sp>
      <p:sp>
        <p:nvSpPr>
          <p:cNvPr id="9" name="Text 7"/>
          <p:cNvSpPr/>
          <p:nvPr/>
        </p:nvSpPr>
        <p:spPr>
          <a:xfrm>
            <a:off x="3383280" y="2651760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</a:rPr>
              <a:t>⚙️ En Progreso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126480" y="2651760"/>
            <a:ext cx="2286000" cy="548640"/>
          </a:xfrm>
          <a:prstGeom prst="roundRect">
            <a:avLst>
              <a:gd name="adj" fmla="val 666667"/>
            </a:avLst>
          </a:prstGeom>
          <a:solidFill>
            <a:srgbClr val="DCFCE7"/>
          </a:solidFill>
          <a:ln/>
        </p:spPr>
      </p:sp>
      <p:sp>
        <p:nvSpPr>
          <p:cNvPr id="11" name="Text 9"/>
          <p:cNvSpPr/>
          <p:nvPr/>
        </p:nvSpPr>
        <p:spPr>
          <a:xfrm>
            <a:off x="6126480" y="265176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</a:rPr>
              <a:t>✅ Terminado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57200" y="3474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E3A5F"/>
                </a:solidFill>
              </a:rPr>
              <a:t>Características principales: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731520" y="3931920"/>
            <a:ext cx="77724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2200"/>
              </a:lnSpc>
              <a:buNone/>
            </a:pPr>
            <a:r>
              <a:rPr lang="en-US" b="1" dirty="0">
                <a:solidFill>
                  <a:srgbClr val="22C55E"/>
                </a:solidFill>
              </a:rPr>
              <a:t>✓ </a:t>
            </a:r>
            <a:r>
              <a:rPr lang="en-US" sz="1400" dirty="0">
                <a:solidFill>
                  <a:srgbClr val="1E293B"/>
                </a:solidFill>
              </a:rPr>
              <a:t>Crea, edita y elimina tareas fácilmente
</a:t>
            </a:r>
            <a:r>
              <a:rPr lang="en-US" sz="1400" b="1" dirty="0">
                <a:solidFill>
                  <a:srgbClr val="22C55E"/>
                </a:solidFill>
              </a:rPr>
              <a:t>✓ </a:t>
            </a:r>
            <a:r>
              <a:rPr lang="en-US" sz="1400" dirty="0">
                <a:solidFill>
                  <a:srgbClr val="1E293B"/>
                </a:solidFill>
              </a:rPr>
              <a:t>Arrastra y suelta tareas entre columnas
</a:t>
            </a:r>
            <a:r>
              <a:rPr lang="en-US" sz="1400" b="1" dirty="0">
                <a:solidFill>
                  <a:srgbClr val="22C55E"/>
                </a:solidFill>
              </a:rPr>
              <a:t>✓ </a:t>
            </a:r>
            <a:r>
              <a:rPr lang="en-US" sz="1400" dirty="0">
                <a:solidFill>
                  <a:srgbClr val="1E293B"/>
                </a:solidFill>
              </a:rPr>
              <a:t>Inicio de sesión seguro con JWT
</a:t>
            </a:r>
            <a:r>
              <a:rPr lang="en-US" sz="1400" b="1" dirty="0">
                <a:solidFill>
                  <a:srgbClr val="22C55E"/>
                </a:solidFill>
              </a:rPr>
              <a:t>✓ </a:t>
            </a:r>
            <a:r>
              <a:rPr lang="en-US" sz="1400" dirty="0">
                <a:solidFill>
                  <a:srgbClr val="1E293B"/>
                </a:solidFill>
              </a:rPr>
              <a:t>Control de acceso: usuarios y administradores
</a:t>
            </a:r>
            <a:r>
              <a:rPr lang="en-US" sz="1400" b="1" dirty="0">
                <a:solidFill>
                  <a:srgbClr val="22C55E"/>
                </a:solidFill>
              </a:rPr>
              <a:t>✓ </a:t>
            </a:r>
            <a:r>
              <a:rPr lang="en-US" sz="1400" dirty="0">
                <a:solidFill>
                  <a:srgbClr val="1E293B"/>
                </a:solidFill>
              </a:rPr>
              <a:t>Diseño responsive: funciona en cualquier dispositivo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3A5F"/>
                </a:solidFill>
              </a:rPr>
              <a:t>Pantalla de Inicio — Login y Registro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914400" y="1188720"/>
            <a:ext cx="7315200" cy="4114800"/>
          </a:xfrm>
          <a:prstGeom prst="rect">
            <a:avLst/>
          </a:prstGeom>
          <a:solidFill>
            <a:srgbClr val="E2E8F0"/>
          </a:solidFill>
          <a:ln w="19050">
            <a:solidFill>
              <a:srgbClr val="CBD5E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14400" y="1188720"/>
            <a:ext cx="7315200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6000" dirty="0">
                <a:solidFill>
                  <a:srgbClr val="64748B"/>
                </a:solidFill>
              </a:rPr>
              <a:t>📷</a:t>
            </a:r>
            <a:endParaRPr lang="en-US" sz="6000" dirty="0"/>
          </a:p>
        </p:txBody>
      </p:sp>
      <p:sp>
        <p:nvSpPr>
          <p:cNvPr id="5" name="Text 3"/>
          <p:cNvSpPr/>
          <p:nvPr/>
        </p:nvSpPr>
        <p:spPr>
          <a:xfrm>
            <a:off x="914400" y="411480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64748B"/>
                </a:solidFill>
              </a:rPr>
              <a:t>Pega aquí la captura de pantalla del formulario de inicio de sesión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54864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</a:rPr>
              <a:t>Explica: El usuario ingresa su correo y contraseña para acceder al tablero. También puede registrarse si es nuevo.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3A5F"/>
                </a:solidFill>
              </a:rPr>
              <a:t>Beneficios de Usar TaskFlow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E3A5F"/>
                </a:solidFill>
              </a:rPr>
              <a:t>Organización Visual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14630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</a:rPr>
              <a:t>De un vistazo sabes el estado de todas tus tareas. No más listas interminables ni correos perdidos.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20116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E3A5F"/>
                </a:solidFill>
              </a:rPr>
              <a:t>Productividad Mejorada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57200" y="246888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2200"/>
              </a:lnSpc>
              <a:buNone/>
            </a:pPr>
            <a:r>
              <a:rPr lang="en-US" b="1" dirty="0">
                <a:solidFill>
                  <a:srgbClr val="1E293B"/>
                </a:solidFill>
              </a:rPr>
              <a:t>• </a:t>
            </a:r>
            <a:r>
              <a:rPr lang="en-US" sz="1400" dirty="0">
                <a:solidFill>
                  <a:srgbClr val="1E293B"/>
                </a:solidFill>
              </a:rPr>
              <a:t>Reducción de sobrecarga cognitiva
</a:t>
            </a:r>
            <a:r>
              <a:rPr lang="en-US" sz="1400" b="1" dirty="0">
                <a:solidFill>
                  <a:srgbClr val="1E293B"/>
                </a:solidFill>
              </a:rPr>
              <a:t>• </a:t>
            </a:r>
            <a:r>
              <a:rPr lang="en-US" sz="1400" dirty="0">
                <a:solidFill>
                  <a:srgbClr val="1E293B"/>
                </a:solidFill>
              </a:rPr>
              <a:t>Arrastrar y soltar es más rápido que formularios
</a:t>
            </a:r>
            <a:r>
              <a:rPr lang="en-US" sz="1400" b="1" dirty="0">
                <a:solidFill>
                  <a:srgbClr val="1E293B"/>
                </a:solidFill>
              </a:rPr>
              <a:t>• </a:t>
            </a:r>
            <a:r>
              <a:rPr lang="en-US" sz="1400" dirty="0">
                <a:solidFill>
                  <a:srgbClr val="1E293B"/>
                </a:solidFill>
              </a:rPr>
              <a:t>Identifica cuellos de botella fácilmente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3657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E3A5F"/>
                </a:solidFill>
              </a:rPr>
              <a:t>Accesible y Gratuito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57200" y="411480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2200"/>
              </a:lnSpc>
              <a:buNone/>
            </a:pPr>
            <a:r>
              <a:rPr lang="en-US" b="1" dirty="0">
                <a:solidFill>
                  <a:srgbClr val="1E293B"/>
                </a:solidFill>
              </a:rPr>
              <a:t>• </a:t>
            </a:r>
            <a:r>
              <a:rPr lang="en-US" sz="1400" dirty="0">
                <a:solidFill>
                  <a:srgbClr val="1E293B"/>
                </a:solidFill>
              </a:rPr>
              <a:t>Sin costos de licencia
</a:t>
            </a:r>
            <a:r>
              <a:rPr lang="en-US" sz="1400" b="1" dirty="0">
                <a:solidFill>
                  <a:srgbClr val="1E293B"/>
                </a:solidFill>
              </a:rPr>
              <a:t>• </a:t>
            </a:r>
            <a:r>
              <a:rPr lang="en-US" sz="1400" dirty="0">
                <a:solidFill>
                  <a:srgbClr val="1E293B"/>
                </a:solidFill>
              </a:rPr>
              <a:t>Funciona en cualquier navegador
</a:t>
            </a:r>
            <a:r>
              <a:rPr lang="en-US" sz="1400" b="1" dirty="0">
                <a:solidFill>
                  <a:srgbClr val="1E293B"/>
                </a:solidFill>
              </a:rPr>
              <a:t>• </a:t>
            </a:r>
            <a:r>
              <a:rPr lang="en-US" sz="1400" dirty="0">
                <a:solidFill>
                  <a:srgbClr val="1E293B"/>
                </a:solidFill>
              </a:rPr>
              <a:t>Responsive: escritorio, tablet y móvil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3A5F"/>
                </a:solidFill>
              </a:rPr>
              <a:t>Stack Tecnológico</a:t>
            </a:r>
            <a:endParaRPr lang="en-US" sz="3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188720"/>
          <a:ext cx="7680960" cy="3337560"/>
        </p:xfrm>
        <a:graphic>
          <a:graphicData uri="http://schemas.openxmlformats.org/drawingml/2006/table">
            <a:tbl>
              <a:tblPr/>
              <a:tblGrid>
                <a:gridCol w="3200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80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Componente</a:t>
                      </a:r>
                      <a:endParaRPr lang="en-US" sz="1400" dirty="0"/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Tecnología</a:t>
                      </a:r>
                      <a:endParaRPr lang="en-US" sz="1400" dirty="0"/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E293B"/>
                          </a:solidFill>
                        </a:rPr>
                        <a:t>Frontend</a:t>
                      </a:r>
                      <a:endParaRPr lang="en-US" sz="1400" dirty="0"/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E293B"/>
                          </a:solidFill>
                        </a:rPr>
                        <a:t>React 18 + Vite + TailwindCSS</a:t>
                      </a:r>
                      <a:endParaRPr lang="en-US" sz="1400" dirty="0"/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E293B"/>
                          </a:solidFill>
                        </a:rPr>
                        <a:t>Backend</a:t>
                      </a:r>
                      <a:endParaRPr lang="en-US" sz="1400" dirty="0"/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E293B"/>
                          </a:solidFill>
                        </a:rPr>
                        <a:t>Node.js + Express 5</a:t>
                      </a:r>
                      <a:endParaRPr lang="en-US" sz="1400" dirty="0"/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E293B"/>
                          </a:solidFill>
                        </a:rPr>
                        <a:t>Base de Datos</a:t>
                      </a:r>
                      <a:endParaRPr lang="en-US" sz="1400" dirty="0"/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E293B"/>
                          </a:solidFill>
                        </a:rPr>
                        <a:t>SQLite / PostgreSQL</a:t>
                      </a:r>
                      <a:endParaRPr lang="en-US" sz="1400" dirty="0"/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E293B"/>
                          </a:solidFill>
                        </a:rPr>
                        <a:t>Autenticación</a:t>
                      </a:r>
                      <a:endParaRPr lang="en-US" sz="1400" dirty="0"/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E293B"/>
                          </a:solidFill>
                        </a:rPr>
                        <a:t>JWT + bcrypt</a:t>
                      </a:r>
                      <a:endParaRPr lang="en-US" sz="1400" dirty="0"/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E293B"/>
                          </a:solidFill>
                        </a:rPr>
                        <a:t>Despliegue</a:t>
                      </a:r>
                      <a:endParaRPr lang="en-US" sz="1400" dirty="0"/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E293B"/>
                          </a:solidFill>
                        </a:rPr>
                        <a:t>Netlify + Render</a:t>
                      </a:r>
                      <a:endParaRPr lang="en-US" sz="1400" dirty="0"/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E293B"/>
                          </a:solidFill>
                        </a:rPr>
                        <a:t>CI/CD</a:t>
                      </a:r>
                      <a:endParaRPr lang="en-US" sz="1400" dirty="0"/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E293B"/>
                          </a:solidFill>
                        </a:rPr>
                        <a:t>GitHub Actions</a:t>
                      </a:r>
                      <a:endParaRPr lang="en-US" sz="1400" dirty="0"/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E293B"/>
                          </a:solidFill>
                        </a:rPr>
                        <a:t>Testing</a:t>
                      </a:r>
                      <a:endParaRPr lang="en-US" sz="1400" dirty="0"/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E293B"/>
                          </a:solidFill>
                        </a:rPr>
                        <a:t>Jest (12 tests)</a:t>
                      </a:r>
                      <a:endParaRPr lang="en-US" sz="1400" dirty="0"/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457200" y="53035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</a:rPr>
              <a:t>Seguridad: HTTPS/TLS 1.3 • bcrypt (salt 12) • RBAC • Consultas parametrizadas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3A5F"/>
                </a:solidFill>
              </a:rPr>
              <a:t>Dashboard — Tareas en Acción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914400" y="1097280"/>
            <a:ext cx="7315200" cy="3657600"/>
          </a:xfrm>
          <a:prstGeom prst="rect">
            <a:avLst/>
          </a:prstGeom>
          <a:solidFill>
            <a:srgbClr val="E2E8F0"/>
          </a:solidFill>
          <a:ln w="19050">
            <a:solidFill>
              <a:srgbClr val="CBD5E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14400" y="1097280"/>
            <a:ext cx="731520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6000" dirty="0">
                <a:solidFill>
                  <a:srgbClr val="64748B"/>
                </a:solidFill>
              </a:rPr>
              <a:t>📷</a:t>
            </a:r>
            <a:endParaRPr lang="en-US" sz="6000" dirty="0"/>
          </a:p>
        </p:txBody>
      </p:sp>
      <p:sp>
        <p:nvSpPr>
          <p:cNvPr id="5" name="Text 3"/>
          <p:cNvSpPr/>
          <p:nvPr/>
        </p:nvSpPr>
        <p:spPr>
          <a:xfrm>
            <a:off x="914400" y="39319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64748B"/>
                </a:solidFill>
              </a:rPr>
              <a:t>Pega aquí la captura del tablero Kanban con tareas registradas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50292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</a:rPr>
              <a:t>Explica: Las tareas se organizan en 3 columnas. El usuario puede arrastrar tareas entre ellas. Los administradores pueden gestionar todas las tareas.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3A5F"/>
                </a:solidFill>
              </a:rPr>
              <a:t>Caso de Uso Real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7955280" cy="3680460"/>
          </a:xfrm>
          <a:prstGeom prst="roundRect">
            <a:avLst>
              <a:gd name="adj" fmla="val 177778"/>
            </a:avLst>
          </a:prstGeom>
          <a:solidFill>
            <a:srgbClr val="EFF6FF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004645" y="1306185"/>
            <a:ext cx="5880295" cy="3397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E3A5F"/>
                </a:solidFill>
              </a:rPr>
              <a:t>🏫 Equipo de 3 estudiantes — Proyecto Final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2229729" y="1898904"/>
            <a:ext cx="5092505" cy="2044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2600"/>
              </a:lnSpc>
              <a:buNone/>
            </a:pPr>
            <a:r>
              <a:rPr lang="en-US" b="1" dirty="0">
                <a:solidFill>
                  <a:srgbClr val="1E3A5F"/>
                </a:solidFill>
              </a:rPr>
              <a:t>1. </a:t>
            </a:r>
            <a:r>
              <a:rPr lang="en-US" sz="1600" dirty="0">
                <a:solidFill>
                  <a:srgbClr val="1E293B"/>
                </a:solidFill>
              </a:rPr>
              <a:t>Crean tareas para cada entregable del proyecto
</a:t>
            </a:r>
            <a:r>
              <a:rPr lang="en-US" sz="1600" b="1" dirty="0">
                <a:solidFill>
                  <a:srgbClr val="1E3A5F"/>
                </a:solidFill>
              </a:rPr>
              <a:t>2. </a:t>
            </a:r>
            <a:r>
              <a:rPr lang="en-US" sz="1600" dirty="0">
                <a:solidFill>
                  <a:srgbClr val="1E293B"/>
                </a:solidFill>
              </a:rPr>
              <a:t>Cada estudiante ve sus propias tareas asignadas
</a:t>
            </a:r>
            <a:r>
              <a:rPr lang="en-US" sz="1600" b="1" dirty="0">
                <a:solidFill>
                  <a:srgbClr val="1E3A5F"/>
                </a:solidFill>
              </a:rPr>
              <a:t>3. </a:t>
            </a:r>
            <a:r>
              <a:rPr lang="en-US" sz="1600" dirty="0">
                <a:solidFill>
                  <a:srgbClr val="1E293B"/>
                </a:solidFill>
              </a:rPr>
              <a:t>Mueven tareas a "Terminado" al completar cada sección
</a:t>
            </a:r>
            <a:r>
              <a:rPr lang="en-US" sz="1600" b="1" dirty="0">
                <a:solidFill>
                  <a:srgbClr val="1E3A5F"/>
                </a:solidFill>
              </a:rPr>
              <a:t>4. </a:t>
            </a:r>
            <a:r>
              <a:rPr lang="en-US" sz="1600" dirty="0">
                <a:solidFill>
                  <a:srgbClr val="1E293B"/>
                </a:solidFill>
              </a:rPr>
              <a:t>El administrador (líder) supervisa el progreso general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1765495" y="4196588"/>
            <a:ext cx="5198012" cy="490728"/>
          </a:xfrm>
          <a:prstGeom prst="roundRect">
            <a:avLst>
              <a:gd name="adj" fmla="val 1000000"/>
            </a:avLst>
          </a:prstGeom>
          <a:solidFill>
            <a:srgbClr val="DCFCE7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818248" y="4217924"/>
            <a:ext cx="5092505" cy="490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66534"/>
                </a:solidFill>
              </a:rPr>
              <a:t>✅ Resultado: Proyecto entregado a tiempo, tareas visibles para todos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3A5F"/>
                </a:solidFill>
              </a:rPr>
              <a:t>Preguntas Frecuentes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731520" y="1097280"/>
            <a:ext cx="7680960" cy="731520"/>
          </a:xfrm>
          <a:prstGeom prst="roundRect">
            <a:avLst>
              <a:gd name="adj" fmla="val 500000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50800" dist="12700" dir="16200000" algn="bl" rotWithShape="0">
              <a:srgbClr val="000000">
                <a:alpha val="8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914400" y="114300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3A5F"/>
                </a:solidFill>
              </a:rPr>
              <a:t>❓ ¿Necesito instalar algo?</a:t>
            </a:r>
            <a:endParaRPr lang="en-US" sz="1300" dirty="0"/>
          </a:p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</a:rPr>
              <a:t>No. Solo un navegador moderno y conexión a internet.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31520" y="2011680"/>
            <a:ext cx="7680960" cy="731520"/>
          </a:xfrm>
          <a:prstGeom prst="roundRect">
            <a:avLst>
              <a:gd name="adj" fmla="val 500000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50800" dist="12700" dir="16200000" algn="bl" rotWithShape="0">
              <a:srgbClr val="000000">
                <a:alpha val="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914400" y="205740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3A5F"/>
                </a:solidFill>
              </a:rPr>
              <a:t>❓ ¿Puedo usarlo en mi teléfono?</a:t>
            </a:r>
            <a:endParaRPr lang="en-US" sz="1300" dirty="0"/>
          </a:p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</a:rPr>
              <a:t>Sí. Es completamente responsive.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731520" y="2926080"/>
            <a:ext cx="7680960" cy="731520"/>
          </a:xfrm>
          <a:prstGeom prst="roundRect">
            <a:avLst>
              <a:gd name="adj" fmla="val 500000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50800" dist="12700" dir="16200000" algn="bl" rotWithShape="0">
              <a:srgbClr val="000000">
                <a:alpha val="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914400" y="297180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3A5F"/>
                </a:solidFill>
              </a:rPr>
              <a:t>❓ ¿Mis datos están seguros?</a:t>
            </a:r>
            <a:endParaRPr lang="en-US" sz="1300" dirty="0"/>
          </a:p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</a:rPr>
              <a:t>HTTPS + bcrypt + JWT. Sí.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31520" y="3840480"/>
            <a:ext cx="7680960" cy="731520"/>
          </a:xfrm>
          <a:prstGeom prst="roundRect">
            <a:avLst>
              <a:gd name="adj" fmla="val 500000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50800" dist="12700" dir="16200000" algn="bl" rotWithShape="0">
              <a:srgbClr val="000000">
                <a:alpha val="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914400" y="388620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3A5F"/>
                </a:solidFill>
              </a:rPr>
              <a:t>❓ ¿Puedo compartir tareas?</a:t>
            </a:r>
            <a:endParaRPr lang="en-US" sz="1300" dirty="0"/>
          </a:p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</a:rPr>
              <a:t>Cada usuario ve sus tareas. El admin ve todo.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31520" y="4754880"/>
            <a:ext cx="7680960" cy="731520"/>
          </a:xfrm>
          <a:prstGeom prst="roundRect">
            <a:avLst>
              <a:gd name="adj" fmla="val 500000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50800" dist="12700" dir="16200000" algn="bl" rotWithShape="0">
              <a:srgbClr val="000000">
                <a:alpha val="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914400" y="480060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3A5F"/>
                </a:solidFill>
              </a:rPr>
              <a:t>❓ ¿Y si olvido mi contraseña?</a:t>
            </a:r>
            <a:endParaRPr lang="en-US" sz="1300" dirty="0"/>
          </a:p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</a:rPr>
              <a:t>Por ahora puedes crear una nueva cuenta.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400" b="1" dirty="0">
                <a:solidFill>
                  <a:srgbClr val="1E3A5F"/>
                </a:solidFill>
              </a:rPr>
              <a:t>Gracias</a:t>
            </a:r>
            <a:endParaRPr lang="en-US" sz="5400" dirty="0"/>
          </a:p>
        </p:txBody>
      </p:sp>
      <p:sp>
        <p:nvSpPr>
          <p:cNvPr id="3" name="Text 1"/>
          <p:cNvSpPr/>
          <p:nvPr/>
        </p:nvSpPr>
        <p:spPr>
          <a:xfrm>
            <a:off x="457200" y="292608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64748B"/>
                </a:solidFill>
              </a:rPr>
              <a:t>¿Preguntas?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200400" y="3840480"/>
            <a:ext cx="2743200" cy="4572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42062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1E293B"/>
                </a:solidFill>
              </a:rPr>
              <a:t>TaskFlow — Organiza tu trabajo, visualiza tu progreso.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572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3B82F6"/>
                </a:solidFill>
              </a:rPr>
              <a:t>Repositorio: https://github.com/tu-usuario/taskflow-kanban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529</Words>
  <Application>Microsoft Office PowerPoint</Application>
  <PresentationFormat>Presentación en pantalla (16:9)</PresentationFormat>
  <Paragraphs>76</Paragraphs>
  <Slides>9</Slides>
  <Notes>9</Notes>
  <HiddenSlides>0</HiddenSlides>
  <MMClips>0</MMClips>
  <ScaleCrop>false</ScaleCrop>
  <HeadingPairs>
    <vt:vector size="6" baseType="variant">
      <vt:variant>
        <vt:lpstr>Fuentes usadas</vt:lpstr>
      </vt:variant>
      <vt:variant>
        <vt:i4>1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9</vt:i4>
      </vt:variant>
    </vt:vector>
  </HeadingPairs>
  <TitlesOfParts>
    <vt:vector size="11" baseType="lpstr">
      <vt:lpstr>Arial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TaskFlow - Presentación Final</dc:title>
  <dc:subject>Proyecto Integrado - Implementación de Soluciones para Plataformas Web</dc:subject>
  <dc:creator>Jorge Luis Diaz Cárdenas</dc:creator>
  <cp:lastModifiedBy>Roberto Arteaga</cp:lastModifiedBy>
  <cp:revision>2</cp:revision>
  <dcterms:created xsi:type="dcterms:W3CDTF">2026-07-13T03:03:03Z</dcterms:created>
  <dcterms:modified xsi:type="dcterms:W3CDTF">2026-07-13T03:05:57Z</dcterms:modified>
</cp:coreProperties>
</file>